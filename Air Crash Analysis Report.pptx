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170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strRef>
              <c:f>Sheet1!$A$2:$A$56</c:f>
              <c:strCache>
                <c:ptCount val="55"/>
                <c:pt idx="0">
                  <c:v>1970</c:v>
                </c:pt>
                <c:pt idx="1">
                  <c:v>1971</c:v>
                </c:pt>
                <c:pt idx="2">
                  <c:v>1972</c:v>
                </c:pt>
                <c:pt idx="3">
                  <c:v>1973</c:v>
                </c:pt>
                <c:pt idx="4">
                  <c:v>1974</c:v>
                </c:pt>
                <c:pt idx="5">
                  <c:v>1975</c:v>
                </c:pt>
                <c:pt idx="6">
                  <c:v>1976</c:v>
                </c:pt>
                <c:pt idx="7">
                  <c:v>1977</c:v>
                </c:pt>
                <c:pt idx="8">
                  <c:v>1978</c:v>
                </c:pt>
                <c:pt idx="9">
                  <c:v>1979</c:v>
                </c:pt>
                <c:pt idx="10">
                  <c:v>1980</c:v>
                </c:pt>
                <c:pt idx="11">
                  <c:v>1981</c:v>
                </c:pt>
                <c:pt idx="12">
                  <c:v>1982</c:v>
                </c:pt>
                <c:pt idx="13">
                  <c:v>1983</c:v>
                </c:pt>
                <c:pt idx="14">
                  <c:v>1984</c:v>
                </c:pt>
                <c:pt idx="15">
                  <c:v>1985</c:v>
                </c:pt>
                <c:pt idx="16">
                  <c:v>1986</c:v>
                </c:pt>
                <c:pt idx="17">
                  <c:v>1987</c:v>
                </c:pt>
                <c:pt idx="18">
                  <c:v>1988</c:v>
                </c:pt>
                <c:pt idx="19">
                  <c:v>1989</c:v>
                </c:pt>
                <c:pt idx="20">
                  <c:v>1990</c:v>
                </c:pt>
                <c:pt idx="21">
                  <c:v>1991</c:v>
                </c:pt>
                <c:pt idx="22">
                  <c:v>1992</c:v>
                </c:pt>
                <c:pt idx="23">
                  <c:v>1993</c:v>
                </c:pt>
                <c:pt idx="24">
                  <c:v>1994</c:v>
                </c:pt>
                <c:pt idx="25">
                  <c:v>1995</c:v>
                </c:pt>
                <c:pt idx="26">
                  <c:v>1996</c:v>
                </c:pt>
                <c:pt idx="27">
                  <c:v>1997</c:v>
                </c:pt>
                <c:pt idx="28">
                  <c:v>1998</c:v>
                </c:pt>
                <c:pt idx="29">
                  <c:v>1999</c:v>
                </c:pt>
                <c:pt idx="30">
                  <c:v>2000</c:v>
                </c:pt>
                <c:pt idx="31">
                  <c:v>2001</c:v>
                </c:pt>
                <c:pt idx="32">
                  <c:v>2002</c:v>
                </c:pt>
                <c:pt idx="33">
                  <c:v>2003</c:v>
                </c:pt>
                <c:pt idx="34">
                  <c:v>2004</c:v>
                </c:pt>
                <c:pt idx="35">
                  <c:v>2005</c:v>
                </c:pt>
                <c:pt idx="36">
                  <c:v>2006</c:v>
                </c:pt>
                <c:pt idx="37">
                  <c:v>2007</c:v>
                </c:pt>
                <c:pt idx="38">
                  <c:v>2008</c:v>
                </c:pt>
                <c:pt idx="39">
                  <c:v>2009</c:v>
                </c:pt>
                <c:pt idx="40">
                  <c:v>2010</c:v>
                </c:pt>
                <c:pt idx="41">
                  <c:v>2011</c:v>
                </c:pt>
                <c:pt idx="42">
                  <c:v>2012</c:v>
                </c:pt>
                <c:pt idx="43">
                  <c:v>2013</c:v>
                </c:pt>
                <c:pt idx="44">
                  <c:v>2014</c:v>
                </c:pt>
                <c:pt idx="45">
                  <c:v>2015</c:v>
                </c:pt>
                <c:pt idx="46">
                  <c:v>2016</c:v>
                </c:pt>
                <c:pt idx="47">
                  <c:v>2017</c:v>
                </c:pt>
                <c:pt idx="48">
                  <c:v>2018</c:v>
                </c:pt>
                <c:pt idx="49">
                  <c:v>2019</c:v>
                </c:pt>
                <c:pt idx="50">
                  <c:v>2020</c:v>
                </c:pt>
                <c:pt idx="51">
                  <c:v>2021</c:v>
                </c:pt>
                <c:pt idx="52">
                  <c:v>2022</c:v>
                </c:pt>
                <c:pt idx="53">
                  <c:v>2023</c:v>
                </c:pt>
                <c:pt idx="54">
                  <c:v>2024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1920</c:v>
                </c:pt>
                <c:pt idx="1">
                  <c:v>1784</c:v>
                </c:pt>
                <c:pt idx="2">
                  <c:v>2796</c:v>
                </c:pt>
                <c:pt idx="3">
                  <c:v>2323</c:v>
                </c:pt>
                <c:pt idx="4">
                  <c:v>2242</c:v>
                </c:pt>
                <c:pt idx="5">
                  <c:v>1460</c:v>
                </c:pt>
                <c:pt idx="6">
                  <c:v>1842</c:v>
                </c:pt>
                <c:pt idx="7">
                  <c:v>2102</c:v>
                </c:pt>
                <c:pt idx="8">
                  <c:v>1444</c:v>
                </c:pt>
                <c:pt idx="9">
                  <c:v>1838</c:v>
                </c:pt>
                <c:pt idx="10">
                  <c:v>1717</c:v>
                </c:pt>
                <c:pt idx="11">
                  <c:v>1168</c:v>
                </c:pt>
                <c:pt idx="12">
                  <c:v>1708</c:v>
                </c:pt>
                <c:pt idx="13">
                  <c:v>1564</c:v>
                </c:pt>
                <c:pt idx="14">
                  <c:v>921</c:v>
                </c:pt>
                <c:pt idx="15">
                  <c:v>2590</c:v>
                </c:pt>
                <c:pt idx="16">
                  <c:v>1405</c:v>
                </c:pt>
                <c:pt idx="17">
                  <c:v>1632</c:v>
                </c:pt>
                <c:pt idx="18">
                  <c:v>1945</c:v>
                </c:pt>
                <c:pt idx="19">
                  <c:v>2210</c:v>
                </c:pt>
                <c:pt idx="20">
                  <c:v>1125</c:v>
                </c:pt>
                <c:pt idx="21">
                  <c:v>1725</c:v>
                </c:pt>
                <c:pt idx="22">
                  <c:v>2017</c:v>
                </c:pt>
                <c:pt idx="23">
                  <c:v>1508</c:v>
                </c:pt>
                <c:pt idx="24">
                  <c:v>1806</c:v>
                </c:pt>
                <c:pt idx="25">
                  <c:v>1491</c:v>
                </c:pt>
                <c:pt idx="26">
                  <c:v>2314</c:v>
                </c:pt>
                <c:pt idx="27">
                  <c:v>1632</c:v>
                </c:pt>
                <c:pt idx="28">
                  <c:v>1508</c:v>
                </c:pt>
                <c:pt idx="29">
                  <c:v>863</c:v>
                </c:pt>
                <c:pt idx="30">
                  <c:v>1430</c:v>
                </c:pt>
                <c:pt idx="31">
                  <c:v>1336</c:v>
                </c:pt>
                <c:pt idx="32">
                  <c:v>1371</c:v>
                </c:pt>
                <c:pt idx="33">
                  <c:v>1279</c:v>
                </c:pt>
                <c:pt idx="34">
                  <c:v>662</c:v>
                </c:pt>
                <c:pt idx="35">
                  <c:v>1294</c:v>
                </c:pt>
                <c:pt idx="36">
                  <c:v>1118</c:v>
                </c:pt>
                <c:pt idx="37">
                  <c:v>888</c:v>
                </c:pt>
                <c:pt idx="38">
                  <c:v>716</c:v>
                </c:pt>
                <c:pt idx="39">
                  <c:v>1083</c:v>
                </c:pt>
                <c:pt idx="40">
                  <c:v>1044</c:v>
                </c:pt>
                <c:pt idx="41">
                  <c:v>720</c:v>
                </c:pt>
                <c:pt idx="42">
                  <c:v>587</c:v>
                </c:pt>
                <c:pt idx="43">
                  <c:v>287</c:v>
                </c:pt>
                <c:pt idx="44">
                  <c:v>1142</c:v>
                </c:pt>
                <c:pt idx="45">
                  <c:v>759</c:v>
                </c:pt>
                <c:pt idx="46">
                  <c:v>515</c:v>
                </c:pt>
                <c:pt idx="47">
                  <c:v>214</c:v>
                </c:pt>
                <c:pt idx="48">
                  <c:v>874</c:v>
                </c:pt>
                <c:pt idx="49">
                  <c:v>305</c:v>
                </c:pt>
                <c:pt idx="50">
                  <c:v>355</c:v>
                </c:pt>
                <c:pt idx="51">
                  <c:v>186</c:v>
                </c:pt>
                <c:pt idx="52">
                  <c:v>189</c:v>
                </c:pt>
                <c:pt idx="53">
                  <c:v>86</c:v>
                </c:pt>
                <c:pt idx="54">
                  <c:v>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99A-4A68-91D7-33330B5C68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Fatalities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rgbClr val="2CA6D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98-43B0-8C0A-92C5CB19989F}"/>
              </c:ext>
            </c:extLst>
          </c:dPt>
          <c:dPt>
            <c:idx val="1"/>
            <c:invertIfNegative val="0"/>
            <c:bubble3D val="0"/>
            <c:spPr>
              <a:solidFill>
                <a:srgbClr val="2590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98-43B0-8C0A-92C5CB19989F}"/>
              </c:ext>
            </c:extLst>
          </c:dPt>
          <c:dPt>
            <c:idx val="2"/>
            <c:invertIfNegative val="0"/>
            <c:bubble3D val="0"/>
            <c:spPr>
              <a:solidFill>
                <a:srgbClr val="1E7D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98-43B0-8C0A-92C5CB19989F}"/>
              </c:ext>
            </c:extLst>
          </c:dPt>
          <c:dPt>
            <c:idx val="3"/>
            <c:invertIfNegative val="0"/>
            <c:bubble3D val="0"/>
            <c:spPr>
              <a:solidFill>
                <a:srgbClr val="176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98-43B0-8C0A-92C5CB19989F}"/>
              </c:ext>
            </c:extLst>
          </c:dPt>
          <c:dPt>
            <c:idx val="4"/>
            <c:invertIfNegative val="0"/>
            <c:bubble3D val="0"/>
            <c:spPr>
              <a:solidFill>
                <a:srgbClr val="1D6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998-43B0-8C0A-92C5CB19989F}"/>
              </c:ext>
            </c:extLst>
          </c:dPt>
          <c:dPt>
            <c:idx val="5"/>
            <c:invertIfNegative val="0"/>
            <c:bubble3D val="0"/>
            <c:spPr>
              <a:solidFill>
                <a:srgbClr val="226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998-43B0-8C0A-92C5CB19989F}"/>
              </c:ext>
            </c:extLst>
          </c:dPt>
          <c:dPt>
            <c:idx val="6"/>
            <c:invertIfNegative val="0"/>
            <c:bubble3D val="0"/>
            <c:spPr>
              <a:solidFill>
                <a:srgbClr val="1A54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998-43B0-8C0A-92C5CB19989F}"/>
              </c:ext>
            </c:extLst>
          </c:dPt>
          <c:dPt>
            <c:idx val="7"/>
            <c:invertIfNegative val="0"/>
            <c:bubble3D val="0"/>
            <c:spPr>
              <a:solidFill>
                <a:srgbClr val="154A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998-43B0-8C0A-92C5CB19989F}"/>
              </c:ext>
            </c:extLst>
          </c:dPt>
          <c:dPt>
            <c:idx val="8"/>
            <c:invertIfNegative val="0"/>
            <c:bubble3D val="0"/>
            <c:spPr>
              <a:solidFill>
                <a:srgbClr val="113D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998-43B0-8C0A-92C5CB19989F}"/>
              </c:ext>
            </c:extLst>
          </c:dPt>
          <c:dPt>
            <c:idx val="9"/>
            <c:invertIfNegative val="0"/>
            <c:bubble3D val="0"/>
            <c:spPr>
              <a:solidFill>
                <a:srgbClr val="0D32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998-43B0-8C0A-92C5CB19989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Russia</c:v>
                </c:pt>
                <c:pt idx="1">
                  <c:v>Brazil</c:v>
                </c:pt>
                <c:pt idx="2">
                  <c:v>Colombia</c:v>
                </c:pt>
                <c:pt idx="3">
                  <c:v>South</c:v>
                </c:pt>
                <c:pt idx="4">
                  <c:v>India</c:v>
                </c:pt>
                <c:pt idx="5">
                  <c:v>Indonesia</c:v>
                </c:pt>
                <c:pt idx="6">
                  <c:v>France</c:v>
                </c:pt>
                <c:pt idx="7">
                  <c:v>Iran</c:v>
                </c:pt>
                <c:pt idx="8">
                  <c:v>China</c:v>
                </c:pt>
                <c:pt idx="9">
                  <c:v>California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8113</c:v>
                </c:pt>
                <c:pt idx="1">
                  <c:v>2898</c:v>
                </c:pt>
                <c:pt idx="2">
                  <c:v>2666</c:v>
                </c:pt>
                <c:pt idx="3">
                  <c:v>2452</c:v>
                </c:pt>
                <c:pt idx="4">
                  <c:v>2345</c:v>
                </c:pt>
                <c:pt idx="5">
                  <c:v>2305</c:v>
                </c:pt>
                <c:pt idx="6">
                  <c:v>2063</c:v>
                </c:pt>
                <c:pt idx="7">
                  <c:v>1861</c:v>
                </c:pt>
                <c:pt idx="8">
                  <c:v>1826</c:v>
                </c:pt>
                <c:pt idx="9">
                  <c:v>1576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998-43B0-8C0A-92C5CB1998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AFD-47D9-B3B0-6841399752E4}"/>
              </c:ext>
            </c:extLst>
          </c:dPt>
          <c:dPt>
            <c:idx val="1"/>
            <c:invertIfNegative val="0"/>
            <c:bubble3D val="0"/>
            <c:spPr>
              <a:solidFill>
                <a:srgbClr val="1A3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AFD-47D9-B3B0-6841399752E4}"/>
              </c:ext>
            </c:extLst>
          </c:dPt>
          <c:dPt>
            <c:idx val="2"/>
            <c:invertIfNegative val="0"/>
            <c:bubble3D val="0"/>
            <c:spPr>
              <a:solidFill>
                <a:srgbClr val="243F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AFD-47D9-B3B0-6841399752E4}"/>
              </c:ext>
            </c:extLst>
          </c:dPt>
          <c:dPt>
            <c:idx val="3"/>
            <c:invertIfNegative val="0"/>
            <c:bubble3D val="0"/>
            <c:spPr>
              <a:solidFill>
                <a:srgbClr val="2E47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AFD-47D9-B3B0-6841399752E4}"/>
              </c:ext>
            </c:extLst>
          </c:dPt>
          <c:dPt>
            <c:idx val="4"/>
            <c:invertIfNegative val="0"/>
            <c:bubble3D val="0"/>
            <c:spPr>
              <a:solidFill>
                <a:srgbClr val="384F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AFD-47D9-B3B0-6841399752E4}"/>
              </c:ext>
            </c:extLst>
          </c:dPt>
          <c:dPt>
            <c:idx val="5"/>
            <c:invertIfNegative val="0"/>
            <c:bubble3D val="0"/>
            <c:spPr>
              <a:solidFill>
                <a:srgbClr val="4257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AFD-47D9-B3B0-6841399752E4}"/>
              </c:ext>
            </c:extLst>
          </c:dPt>
          <c:dPt>
            <c:idx val="6"/>
            <c:invertIfNegative val="0"/>
            <c:bubble3D val="0"/>
            <c:spPr>
              <a:solidFill>
                <a:srgbClr val="4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AFD-47D9-B3B0-6841399752E4}"/>
              </c:ext>
            </c:extLst>
          </c:dPt>
          <c:dPt>
            <c:idx val="7"/>
            <c:invertIfNegative val="0"/>
            <c:bubble3D val="0"/>
            <c:spPr>
              <a:solidFill>
                <a:srgbClr val="56679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AFD-47D9-B3B0-6841399752E4}"/>
              </c:ext>
            </c:extLst>
          </c:dPt>
          <c:dPt>
            <c:idx val="8"/>
            <c:invertIfNegative val="0"/>
            <c:bubble3D val="0"/>
            <c:spPr>
              <a:solidFill>
                <a:srgbClr val="606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AFD-47D9-B3B0-6841399752E4}"/>
              </c:ext>
            </c:extLst>
          </c:dPt>
          <c:dPt>
            <c:idx val="9"/>
            <c:invertIfNegative val="0"/>
            <c:bubble3D val="0"/>
            <c:spPr>
              <a:solidFill>
                <a:srgbClr val="6A77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AFD-47D9-B3B0-6841399752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Boeing</c:v>
                </c:pt>
                <c:pt idx="1">
                  <c:v>Douglas</c:v>
                </c:pt>
                <c:pt idx="2">
                  <c:v>McDonnell Douglas</c:v>
                </c:pt>
                <c:pt idx="3">
                  <c:v>Antonov</c:v>
                </c:pt>
                <c:pt idx="4">
                  <c:v>Tupolev</c:v>
                </c:pt>
                <c:pt idx="5">
                  <c:v>Ilyushin</c:v>
                </c:pt>
                <c:pt idx="6">
                  <c:v>Lockheed</c:v>
                </c:pt>
                <c:pt idx="7">
                  <c:v>Airbus</c:v>
                </c:pt>
                <c:pt idx="8">
                  <c:v>Fokker</c:v>
                </c:pt>
                <c:pt idx="9">
                  <c:v>Curtiss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20090</c:v>
                </c:pt>
                <c:pt idx="1">
                  <c:v>16675</c:v>
                </c:pt>
                <c:pt idx="2">
                  <c:v>6992</c:v>
                </c:pt>
                <c:pt idx="3">
                  <c:v>6527</c:v>
                </c:pt>
                <c:pt idx="4">
                  <c:v>6077</c:v>
                </c:pt>
                <c:pt idx="5">
                  <c:v>5813</c:v>
                </c:pt>
                <c:pt idx="6">
                  <c:v>5242</c:v>
                </c:pt>
                <c:pt idx="7">
                  <c:v>3927</c:v>
                </c:pt>
                <c:pt idx="8">
                  <c:v>2599</c:v>
                </c:pt>
                <c:pt idx="9">
                  <c:v>1847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AFD-47D9-B3B0-6841399752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rgbClr val="2CA6D4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December</c:v>
                </c:pt>
                <c:pt idx="1">
                  <c:v>September</c:v>
                </c:pt>
                <c:pt idx="2">
                  <c:v>July</c:v>
                </c:pt>
                <c:pt idx="3">
                  <c:v>November</c:v>
                </c:pt>
                <c:pt idx="4">
                  <c:v>August</c:v>
                </c:pt>
                <c:pt idx="5">
                  <c:v>March</c:v>
                </c:pt>
                <c:pt idx="6">
                  <c:v>January</c:v>
                </c:pt>
                <c:pt idx="7">
                  <c:v>June</c:v>
                </c:pt>
                <c:pt idx="8">
                  <c:v>October</c:v>
                </c:pt>
                <c:pt idx="9">
                  <c:v>February</c:v>
                </c:pt>
                <c:pt idx="10">
                  <c:v>May</c:v>
                </c:pt>
                <c:pt idx="11">
                  <c:v>April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10910</c:v>
                </c:pt>
                <c:pt idx="1">
                  <c:v>10618</c:v>
                </c:pt>
                <c:pt idx="2">
                  <c:v>10539</c:v>
                </c:pt>
                <c:pt idx="3">
                  <c:v>10464</c:v>
                </c:pt>
                <c:pt idx="4">
                  <c:v>10337</c:v>
                </c:pt>
                <c:pt idx="5">
                  <c:v>9540</c:v>
                </c:pt>
                <c:pt idx="6">
                  <c:v>9075</c:v>
                </c:pt>
                <c:pt idx="7">
                  <c:v>8525</c:v>
                </c:pt>
                <c:pt idx="8">
                  <c:v>8439</c:v>
                </c:pt>
                <c:pt idx="9">
                  <c:v>8168</c:v>
                </c:pt>
                <c:pt idx="10">
                  <c:v>7951</c:v>
                </c:pt>
                <c:pt idx="11">
                  <c:v>7306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1E-4B9D-B85E-7BEA5C078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2342"/>
                </a:solidFill>
                <a:latin typeface="Arial"/>
              </a:rPr>
              <a:t>Fatalities by Quarter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23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5C-4E57-9A26-3E2106FBE162}"/>
              </c:ext>
            </c:extLst>
          </c:dPt>
          <c:dPt>
            <c:idx val="1"/>
            <c:bubble3D val="0"/>
            <c:spPr>
              <a:solidFill>
                <a:srgbClr val="2CA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5C-4E57-9A26-3E2106FBE162}"/>
              </c:ext>
            </c:extLst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5C-4E57-9A26-3E2106FBE162}"/>
              </c:ext>
            </c:extLst>
          </c:dPt>
          <c:dPt>
            <c:idx val="3"/>
            <c:bubble3D val="0"/>
            <c:spPr>
              <a:solidFill>
                <a:srgbClr val="F4A22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5C-4E57-9A26-3E2106FBE16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5C-4E57-9A26-3E2106FBE16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5C-4E57-9A26-3E2106FBE16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5C-4E57-9A26-3E2106FBE16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5C-4E57-9A26-3E2106FBE16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26783</c:v>
                </c:pt>
                <c:pt idx="1">
                  <c:v>23782</c:v>
                </c:pt>
                <c:pt idx="2">
                  <c:v>31494</c:v>
                </c:pt>
                <c:pt idx="3">
                  <c:v>29813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5C-4E57-9A26-3E2106FBE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C2B3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2342"/>
                </a:solidFill>
                <a:latin typeface="Arial"/>
              </a:rPr>
              <a:t>Top 10 Operators by Fatalities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</c:v>
                </c:pt>
              </c:strCache>
            </c:strRef>
          </c:tx>
          <c:spPr>
            <a:solidFill>
              <a:srgbClr val="F4A229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Aeroflot</c:v>
                </c:pt>
                <c:pt idx="1">
                  <c:v>Force Air U.S.-Military</c:v>
                </c:pt>
                <c:pt idx="2">
                  <c:v>France Air</c:v>
                </c:pt>
                <c:pt idx="3">
                  <c:v>Pan Am</c:v>
                </c:pt>
                <c:pt idx="4">
                  <c:v>Turkish Airlines</c:v>
                </c:pt>
                <c:pt idx="5">
                  <c:v>Indian Airlines</c:v>
                </c:pt>
                <c:pt idx="6">
                  <c:v>United Airlines</c:v>
                </c:pt>
                <c:pt idx="7">
                  <c:v>Avianca</c:v>
                </c:pt>
                <c:pt idx="8">
                  <c:v>Force Air U.S.-Vietnam</c:v>
                </c:pt>
                <c:pt idx="9">
                  <c:v>Korean Airlines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5910</c:v>
                </c:pt>
                <c:pt idx="1">
                  <c:v>1842</c:v>
                </c:pt>
                <c:pt idx="2">
                  <c:v>1037</c:v>
                </c:pt>
                <c:pt idx="3">
                  <c:v>971</c:v>
                </c:pt>
                <c:pt idx="4">
                  <c:v>876</c:v>
                </c:pt>
                <c:pt idx="5">
                  <c:v>815</c:v>
                </c:pt>
                <c:pt idx="6">
                  <c:v>784</c:v>
                </c:pt>
                <c:pt idx="7">
                  <c:v>705</c:v>
                </c:pt>
                <c:pt idx="8">
                  <c:v>624</c:v>
                </c:pt>
                <c:pt idx="9">
                  <c:v>579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5D-4CDE-9161-A37CDCF106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874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CA6D4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2CA6D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1234440"/>
            <a:ext cx="530352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DATA ANALYSIS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Crash Incidents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47472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Analysis  1908 – 2024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7472" y="3154680"/>
            <a:ext cx="2286000" cy="36576"/>
          </a:xfrm>
          <a:prstGeom prst="rect">
            <a:avLst/>
          </a:prstGeom>
          <a:solidFill>
            <a:srgbClr val="CBD5E1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Toluwanimi Adesoye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3639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 Air Crashes Full Data 1908-2024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396849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 |  Excel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Crashes Full Data – Key Metrics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659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65960" cy="10972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5,036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incidents logged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659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1188720"/>
            <a:ext cx="1965960" cy="10972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111,872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50592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Fatalities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fatalities recorded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1188720"/>
            <a:ext cx="19659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1188720"/>
            <a:ext cx="1965960" cy="109728"/>
          </a:xfrm>
          <a:prstGeom prst="rect">
            <a:avLst/>
          </a:prstGeom>
          <a:solidFill>
            <a:srgbClr val="1A7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7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44,753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26864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Survivors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survived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188720"/>
            <a:ext cx="196596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1188720"/>
            <a:ext cx="1965960" cy="109728"/>
          </a:xfrm>
          <a:prstGeom prst="rect">
            <a:avLst/>
          </a:prstGeom>
          <a:solidFill>
            <a:srgbClr val="F4A2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14630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116 yrs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03136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03136" y="26517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1908 through 2024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8595360" cy="123444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93192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covers global commercial and military air crash incidents from 1908 to 2024, sourced from Kaggle. It includes details on country/region, aircraft manufacturer, operator, fatalities (air &amp; ground), survivors, and temporal data (year, quarter, month, day). A Survivors column was derived by calculating Aboard minus Fatalities (air).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Key Questions Driving This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170432"/>
            <a:ext cx="43434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" y="1225296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number of air crashes trended from 1970 to 2024?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929384"/>
            <a:ext cx="4343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929384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" y="192938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" y="1984248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years recorded the highest number of crashes and fatalities?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688336"/>
            <a:ext cx="43434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2688336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" y="2688336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" y="2743200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or regions have the most air crash incidents?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447288"/>
            <a:ext cx="4343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" y="3447288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344728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" y="3502152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aircraft manufacturers appear most frequently in crash records?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206240"/>
            <a:ext cx="43434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4206240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8600" y="42062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" y="4261104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operators (airlines) have the most crashes on record?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4343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170432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17043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57216" y="1225296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seasonal pattern — which months see the most crashes?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9384"/>
            <a:ext cx="43434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1929384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1929384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57216" y="1984248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have total fatality numbers changed over the decades?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688336"/>
            <a:ext cx="4343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2688336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2688336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57216" y="2743200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ratio of fatalities to people aboard over time?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447288"/>
            <a:ext cx="434340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3447288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44728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57216" y="3502152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quarter of the year is the most dangerous for air travel?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206240"/>
            <a:ext cx="4343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4206240"/>
            <a:ext cx="347472" cy="6583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54880" y="420624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57216" y="4261104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ground casualties compare across different regions?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548640" cy="10972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0392" y="129844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60020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updated dataset from Kaggle (5,036 rows × 12 columns) covering 1908–2024.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450592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450592"/>
            <a:ext cx="548640" cy="1097280"/>
          </a:xfrm>
          <a:prstGeom prst="rect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245059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0392" y="256032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286207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integrity: confirmed no dashes or blank values in key numeric columns (Fatalities, Aboard).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712464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" y="3712464"/>
            <a:ext cx="548640" cy="10972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371246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" y="382219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412394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 new Survivors column using the formula =Aboard − Fatalities (air) to enable survival-rate analysis.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548640" cy="1097280"/>
          </a:xfrm>
          <a:prstGeom prst="rect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11887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76672" y="1298448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76672" y="160020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8 pivot tables summarising crashes by Year, Country, Manufacturer, Month, Quarter, Operator, and Survivors.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450592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548640" cy="109728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45059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672" y="256032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76672" y="2862072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6 interactive charts (line, bar, column, pie) linked to pivot tables with slicers for filtering.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12464"/>
            <a:ext cx="4251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712464"/>
            <a:ext cx="548640" cy="1097280"/>
          </a:xfrm>
          <a:prstGeom prst="rect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71246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76672" y="382219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76672" y="4123944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a dedicated Dashboard sheet with KPI cards, 6 charts, colour-coded themes, and gridlines hidden.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Fatalities by Year: A Declining Trend Since the 1970s</a:t>
            </a:r>
            <a:endParaRPr lang="en-US" sz="1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15568"/>
          <a:ext cx="6217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115568"/>
            <a:ext cx="2240280" cy="914400"/>
          </a:xfrm>
          <a:prstGeom prst="rect">
            <a:avLst/>
          </a:prstGeom>
          <a:solidFill>
            <a:srgbClr val="E6394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0" y="1188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2,796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675120" y="16276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fatalities (1972)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75120" y="2194560"/>
            <a:ext cx="2240280" cy="91440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75120" y="2267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A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675120" y="270662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 2023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75120" y="3273552"/>
            <a:ext cx="2240280" cy="136245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20840" y="33375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20840" y="36301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crash fatalities peaked in the 1970s–80s and have fallen sharply since 2000, reflecting major improvements in aviation safety, aircraft technology, and regulation.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Countries with the Highest Air Crash Fatalities</a:t>
            </a:r>
            <a:endParaRPr lang="en-US" sz="1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15568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115568"/>
            <a:ext cx="23774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537960" y="1115568"/>
            <a:ext cx="2377440" cy="91440"/>
          </a:xfrm>
          <a:prstGeom prst="rect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1280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29400" y="1719072"/>
            <a:ext cx="164592" cy="164592"/>
          </a:xfrm>
          <a:prstGeom prst="ellipse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58000" y="168249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leads with 8,113 fatalities — driven by its large military fleet and Soviet-era incidents.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629400" y="2414016"/>
            <a:ext cx="164592" cy="164592"/>
          </a:xfrm>
          <a:prstGeom prst="ellipse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0" y="2377440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(2,898) and Colombia (2,666) reflect the challenge of aviation in complex terrain.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29400" y="3108960"/>
            <a:ext cx="164592" cy="164592"/>
          </a:xfrm>
          <a:prstGeom prst="ellipse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0" y="3072384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US states (California, etc.) appear as locations, reflecting high traffic volume.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29400" y="3803904"/>
            <a:ext cx="164592" cy="164592"/>
          </a:xfrm>
          <a:prstGeom prst="ellipse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0" y="37673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&amp; Indonesia rank high due to rapid aviation growth in developing markets.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Aircraft Manufacturers Most Involved in Crashes</a:t>
            </a:r>
            <a:endParaRPr lang="en-US" sz="1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15568"/>
          <a:ext cx="8595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Seasonal Patterns — Fatalities by Month</a:t>
            </a:r>
            <a:endParaRPr lang="en-US" sz="1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15568"/>
          <a:ext cx="6400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115568"/>
            <a:ext cx="2057400" cy="3566160"/>
          </a:xfrm>
          <a:prstGeom prst="rect">
            <a:avLst/>
          </a:prstGeom>
          <a:solidFill>
            <a:srgbClr val="0A23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49440" y="12344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0" y="1664208"/>
            <a:ext cx="1874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records the highest fatalities (10,910), possibly linked to increased holiday travel and adverse winter weather conditions.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is the safest month with only 7,306 fatalities  nearly 33% lower than December.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(Jul–Sep) is the most dangerous quarter, with over 31,000 cumulative fatalities.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5 &amp;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Distribution  &amp;  Top Airline Operators</a:t>
            </a:r>
            <a:endParaRPr lang="en-US" sz="1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078992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078992"/>
          <a:ext cx="4343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CA6D4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2004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54864" cy="6949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Improvement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4650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crash fatalities have declined dramatically since the 1980s, showing that regulatory and technological advances work.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304288"/>
            <a:ext cx="54864" cy="694944"/>
          </a:xfrm>
          <a:prstGeom prst="rect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500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Regions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Russia, Brazil, and Colombia remain disproportionately affected and could benefit from targeted safety investment.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3191256"/>
            <a:ext cx="54864" cy="69494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23697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Boeing's Legacy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and Douglas aircraft dominate crash records, reflecting their historical market dominance rather than inherent unsafety.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4078224"/>
            <a:ext cx="54864" cy="694944"/>
          </a:xfrm>
          <a:prstGeom prst="rect">
            <a:avLst/>
          </a:prstGeom>
          <a:solidFill>
            <a:srgbClr val="2CA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1239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0740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and Q3 show elevated fatalities — airlines should consider increased safety checks during peak travel seasons.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CA6D4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E6394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Crash Incidents Global Analysis  |  1908 – 2024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Toluwanimi Adesoye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Kaggle Air Crashes Full Data 1908–2024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762</Words>
  <Application>Microsoft Office PowerPoint</Application>
  <PresentationFormat>On-screen Show (16:9)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 Crash Incidents Analysis 1908–2024</dc:title>
  <dc:subject>PptxGenJS Presentation</dc:subject>
  <dc:creator>Toluwanimi Adesoye</dc:creator>
  <cp:lastModifiedBy>kolemanmark4@gmail.com</cp:lastModifiedBy>
  <cp:revision>2</cp:revision>
  <dcterms:created xsi:type="dcterms:W3CDTF">2026-06-03T02:08:12Z</dcterms:created>
  <dcterms:modified xsi:type="dcterms:W3CDTF">2026-06-03T02:14:26Z</dcterms:modified>
</cp:coreProperties>
</file>